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7276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55"/>
                </a:solidFill>
              </a:rPr>
              <a:t>클라우드 기반 ESG 플랫폼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78408" y="2331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A3D"/>
                </a:solidFill>
              </a:rPr>
              <a:t>중간발표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87552" y="2907792"/>
            <a:ext cx="4206240" cy="0"/>
          </a:xfrm>
          <a:prstGeom prst="line">
            <a:avLst/>
          </a:prstGeom>
          <a:noFill/>
          <a:ln w="17780">
            <a:solidFill>
              <a:srgbClr val="D3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팀장  김성민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팀원  박정은 · 홍현민 · 조성민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0" y="1298448"/>
            <a:ext cx="3383280" cy="3566160"/>
          </a:xfrm>
          <a:prstGeom prst="roundRect">
            <a:avLst>
              <a:gd name="adj" fmla="val 4865"/>
            </a:avLst>
          </a:prstGeom>
          <a:solidFill>
            <a:srgbClr val="ECFDF3"/>
          </a:solidFill>
          <a:ln w="15240">
            <a:solidFill>
              <a:srgbClr val="B7D8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7A3D"/>
                </a:solidFill>
              </a:rPr>
              <a:t>ESG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936992" y="2651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Environment · Social · Governance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3127248"/>
            <a:ext cx="2468880" cy="0"/>
          </a:xfrm>
          <a:prstGeom prst="line">
            <a:avLst/>
          </a:prstGeom>
          <a:noFill/>
          <a:ln w="15240">
            <a:solidFill>
              <a:srgbClr val="087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55"/>
                </a:solidFill>
              </a:rPr>
              <a:t>데이터 수집 · 검증 · 승인 · 공개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729216" y="6355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2026.07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ESG의 의미와 데이터 관리 시스템으로 구현한 방향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9264"/>
            <a:ext cx="3246120" cy="1078992"/>
          </a:xfrm>
          <a:prstGeom prst="roundRect">
            <a:avLst>
              <a:gd name="adj" fmla="val 11017"/>
            </a:avLst>
          </a:prstGeom>
          <a:solidFill>
            <a:srgbClr val="ECFDF3"/>
          </a:solidFill>
          <a:ln w="13970">
            <a:solidFill>
              <a:srgbClr val="087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87A3D"/>
                </a:solidFill>
              </a:rPr>
              <a:t>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25880" y="1078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A3D"/>
                </a:solidFill>
              </a:rPr>
              <a:t>환경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전력 사용량, 온실가스, 폐기물 등 환경 영향을 수치로 관리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43400" y="969264"/>
            <a:ext cx="3246120" cy="1078992"/>
          </a:xfrm>
          <a:prstGeom prst="roundRect">
            <a:avLst>
              <a:gd name="adj" fmla="val 11017"/>
            </a:avLst>
          </a:prstGeom>
          <a:solidFill>
            <a:srgbClr val="FFF5E7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8C28"/>
                </a:solidFill>
              </a:rPr>
              <a:t>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074920" y="1078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사회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93208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산업재해율, 안전교육, 위험요인 개선, 퇴사율 등 인적·안전 지표 관리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92440" y="969264"/>
            <a:ext cx="3246120" cy="1078992"/>
          </a:xfrm>
          <a:prstGeom prst="roundRect">
            <a:avLst>
              <a:gd name="adj" fmla="val 11017"/>
            </a:avLst>
          </a:prstGeom>
          <a:solidFill>
            <a:srgbClr val="F7EEFF"/>
          </a:solidFill>
          <a:ln w="1397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0972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030A0"/>
                </a:solidFill>
              </a:rPr>
              <a:t>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823960" y="1078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</a:rPr>
              <a:t>거버넌스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42248" y="1417320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이사회 참석률, 사외이사 비율, 윤리교육 등 투명성 지표 관리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31520" y="2404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55"/>
                </a:solidFill>
              </a:rPr>
              <a:t>ESG 관리는 단순 보고서 작성이 아니라, 기업의 환경·사회·거버넌스 활동을 “측정 가능한 데이터”로 남기고 검증하는 과정입니다.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63240"/>
            <a:ext cx="18470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087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55"/>
                </a:solidFill>
              </a:rPr>
              <a:t>원천 데이터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3502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EMS · 인사 · 안전 · 그룹웨어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551176" y="3547872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90088" y="3063240"/>
            <a:ext cx="18470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087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9816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93008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55"/>
                </a:solidFill>
              </a:rPr>
              <a:t>월별 수집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18688" y="3502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사업장·월 기준 데이터 정리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855464" y="3547872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94376" y="3063240"/>
            <a:ext cx="18470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F28C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4104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97296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55"/>
                </a:solidFill>
              </a:rPr>
              <a:t>검증/AI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522976" y="3502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누락·이상치·증빙 확인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7159752" y="3547872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598664" y="3063240"/>
            <a:ext cx="18470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125B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01584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55"/>
                </a:solidFill>
              </a:rPr>
              <a:t>승인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27264" y="3502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관리자 최종 승인/반려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9464040" y="3547872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02952" y="3063240"/>
            <a:ext cx="18470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0B2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405872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A55"/>
                </a:solidFill>
              </a:rPr>
              <a:t>공개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131552" y="3502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대시보드·보고서 반영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731520" y="4663440"/>
            <a:ext cx="3383280" cy="1234440"/>
          </a:xfrm>
          <a:prstGeom prst="roundRect">
            <a:avLst>
              <a:gd name="adj" fmla="val 10370"/>
            </a:avLst>
          </a:prstGeom>
          <a:solidFill>
            <a:srgbClr val="FFF1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" y="4828032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" y="491947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517904" y="48463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문제 정의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32688" y="5431536"/>
            <a:ext cx="29809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공장별 데이터가 분산되어 관리됨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승인 전 잠정값과 확정값이 혼재될 위험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대시보드·보고서 수치의 근거 관리 필요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4434840" y="4663440"/>
            <a:ext cx="3383280" cy="1234440"/>
          </a:xfrm>
          <a:prstGeom prst="roundRect">
            <a:avLst>
              <a:gd name="adj" fmla="val 10370"/>
            </a:avLst>
          </a:prstGeom>
          <a:solidFill>
            <a:srgbClr val="ECFDF3"/>
          </a:solidFill>
          <a:ln w="15240">
            <a:solidFill>
              <a:srgbClr val="087A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99432" y="4828032"/>
            <a:ext cx="493776" cy="493776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491947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21224" y="48463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A3D"/>
                </a:solidFill>
              </a:rPr>
              <a:t>해결 방향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36008" y="5431536"/>
            <a:ext cx="29809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월별 ESG 데이터를 DB 기준으로 수집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작성자와 승인자 권한 분리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승인 완료 데이터만 공식 화면에 공개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8138160" y="4663440"/>
            <a:ext cx="3383280" cy="1234440"/>
          </a:xfrm>
          <a:prstGeom prst="roundRect">
            <a:avLst>
              <a:gd name="adj" fmla="val 10370"/>
            </a:avLst>
          </a:prstGeom>
          <a:solidFill>
            <a:srgbClr val="EEF6FF"/>
          </a:solidFill>
          <a:ln w="15240">
            <a:solidFill>
              <a:srgbClr val="125B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02752" y="4828032"/>
            <a:ext cx="493776" cy="493776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2752" y="491947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924544" y="48463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5BD9"/>
                </a:solidFill>
              </a:rPr>
              <a:t>중간 구현 결과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39328" y="5431536"/>
            <a:ext cx="29809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환경·사회·거버넌스 월별 데이터 구성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AI 분석·승인 요청·최종 승인 흐름 구현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• Docker/AWS 배포 구조 설계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기술과 선택 이유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프로젝트 구조와 배포를 고려한 기술 스택 구성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44168"/>
            <a:ext cx="493776" cy="493776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5389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307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React + Vite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380744" y="1600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25BD9"/>
                </a:solidFill>
              </a:rPr>
              <a:t>SPA 화면 구성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77240" y="194767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컴포넌트 기반 화면 개발과 빠른 개발 서버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474720" y="114300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1344168"/>
            <a:ext cx="493776" cy="493776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45389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1307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Spring Boot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261104" y="1600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87A3D"/>
                </a:solidFill>
              </a:rPr>
              <a:t>REST API 서버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657600" y="194767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인증·권한·비즈니스 로직을 안정적으로 구현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55080" y="114300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1344168"/>
            <a:ext cx="493776" cy="493776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45389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1307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PostgreSQL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141464" y="1600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B2A55"/>
                </a:solidFill>
              </a:rPr>
              <a:t>영구 저장소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37960" y="194767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ESG 원본·계산 결과·승인 이력·보고서 보관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9235440" y="114300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0032" y="1344168"/>
            <a:ext cx="493776" cy="493776"/>
          </a:xfrm>
          <a:prstGeom prst="ellipse">
            <a:avLst/>
          </a:prstGeom>
          <a:solidFill>
            <a:srgbClr val="C91F37"/>
          </a:solidFill>
          <a:ln w="12700">
            <a:solidFill>
              <a:srgbClr val="C91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0032" y="145389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12680" y="1307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Redis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0021824" y="1600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91F37"/>
                </a:solidFill>
              </a:rPr>
              <a:t>캐시·인증 보조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9418320" y="194767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36608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JWT 토큰, 대시보드 캐시, 분산락 처리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94360" y="310896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3310128"/>
            <a:ext cx="493776" cy="49377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4198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71600" y="3273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MyBatis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1380744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28C28"/>
                </a:solidFill>
              </a:rPr>
              <a:t>SQL Mapper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77240" y="391363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명확한 SQL 관리와 DB 중심 업무 로직에 적합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3474720" y="310896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39312" y="3310128"/>
            <a:ext cx="493776" cy="49377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34198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51960" y="3273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Flyway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4261104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7030A0"/>
                </a:solidFill>
              </a:rPr>
              <a:t>DB Migration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3657600" y="391363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5888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V1~V5 마이그레이션으로 테이블 버전 관리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6355080" y="310896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9672" y="3310128"/>
            <a:ext cx="493776" cy="49377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9672" y="34198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132320" y="3273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Docker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7141464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EA5E9"/>
                </a:solidFill>
              </a:rPr>
              <a:t>실행환경 통일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6537960" y="391363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56248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팀원 로컬 DB·Redis 환경과 배포 환경 차이 감소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9235440" y="3108960"/>
            <a:ext cx="251460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5240">
            <a:solidFill>
              <a:srgbClr val="D7E2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00032" y="3310128"/>
            <a:ext cx="493776" cy="49377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0032" y="34198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012680" y="3273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AWS</a:t>
            </a:r>
            <a:endParaRPr lang="en-US" sz="1220" dirty="0"/>
          </a:p>
        </p:txBody>
      </p:sp>
      <p:sp>
        <p:nvSpPr>
          <p:cNvPr id="59" name="Text 57"/>
          <p:cNvSpPr/>
          <p:nvPr/>
        </p:nvSpPr>
        <p:spPr>
          <a:xfrm>
            <a:off x="10021824" y="3566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9900"/>
                </a:solidFill>
              </a:rPr>
              <a:t>클라우드 배포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9418320" y="3913632"/>
            <a:ext cx="21488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36608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EC2 기반 컨테이너 배포 후 S3/RDS 확장 가능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749808" y="5285232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55229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A55"/>
                </a:solidFill>
              </a:rPr>
              <a:t>기술 선택 기준: 빠른 개발 가능성 + 팀 환경 통일 + DB 이력 관리 + 클라우드 배포 확장성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권한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작성자·승인자·조회자를 분리해 데이터 신뢰성을 확보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246120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7780">
            <a:solidFill>
              <a:srgbClr val="087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4248" y="1417320"/>
            <a:ext cx="658368" cy="658368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5727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A3D"/>
                </a:solidFill>
              </a:rPr>
              <a:t>기업 ESG 관리자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4871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COMPANY_MANAGER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2816352"/>
            <a:ext cx="26060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90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A55"/>
                </a:solidFill>
              </a:rPr>
              <a:t>데이터 작성·수정·승인 요청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9848" y="3401568"/>
            <a:ext cx="25146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원천 데이터 수집/검토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증빙 등록 및 AI 분석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승인 요청 및 반려 데이터 재처리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4480560" y="1143000"/>
            <a:ext cx="3246120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7780">
            <a:solidFill>
              <a:srgbClr val="125B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1417320"/>
            <a:ext cx="658368" cy="658368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5727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5BD9"/>
                </a:solidFill>
              </a:rPr>
              <a:t>시스템 총괄 관리자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4871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SYSTEM_ADMIN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816352"/>
            <a:ext cx="26060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90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A55"/>
                </a:solidFill>
              </a:rPr>
              <a:t>최종 승인·반려·시스템 관리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25146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승인 대기 데이터 검토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최종 승인 또는 반려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기업·사용자·지표·연동 상태 관리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8275320" y="1143000"/>
            <a:ext cx="3246120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7780">
            <a:solidFill>
              <a:srgbClr val="703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73768" y="1417320"/>
            <a:ext cx="658368" cy="65836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3768" y="15727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30A0"/>
                </a:solidFill>
              </a:rPr>
              <a:t>일반 사용자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24871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EXTERNAL_USER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95360" y="2816352"/>
            <a:ext cx="2606040" cy="0"/>
          </a:xfrm>
          <a:prstGeom prst="line">
            <a:avLst/>
          </a:prstGeom>
          <a:noFill/>
          <a:ln w="12700">
            <a:solidFill>
              <a:srgbClr val="E5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2990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A55"/>
                </a:solidFill>
              </a:rPr>
              <a:t>승인 완료 데이터 조회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59368" y="3401568"/>
            <a:ext cx="25146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승인된 ESG 실적 조회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공개 대시보드 및 보고서 확인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334155"/>
                </a:solidFill>
              </a:rPr>
              <a:t>• 승인 전 잠정 데이터는 비공개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3950208" y="2468880"/>
            <a:ext cx="438912" cy="0"/>
          </a:xfrm>
          <a:prstGeom prst="line">
            <a:avLst/>
          </a:prstGeom>
          <a:noFill/>
          <a:ln w="20320">
            <a:solidFill>
              <a:srgbClr val="087A3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54112" y="2468880"/>
            <a:ext cx="429768" cy="0"/>
          </a:xfrm>
          <a:prstGeom prst="line">
            <a:avLst/>
          </a:prstGeom>
          <a:noFill/>
          <a:ln w="20320">
            <a:solidFill>
              <a:srgbClr val="125BD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371600" y="4617720"/>
            <a:ext cx="9445752" cy="868680"/>
          </a:xfrm>
          <a:prstGeom prst="roundRect">
            <a:avLst>
              <a:gd name="adj" fmla="val 12632"/>
            </a:avLst>
          </a:prstGeom>
          <a:solidFill>
            <a:srgbClr val="EEF6FF"/>
          </a:solidFill>
          <a:ln w="12700">
            <a:solidFill>
              <a:srgbClr val="B9D3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4855464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2A55"/>
                </a:solidFill>
              </a:rPr>
              <a:t>운영 원칙: COMPANY_MANAGER가 데이터를 작성·수정하고, SYSTEM_ADMIN이 최종 승인합니다. EXTERNAL_USER는 APPROVED 데이터만 조회합니다.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업무흐름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G_시스템아키텍처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G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· AWS 배포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로컬 개발 환경을 컨테이너로 통일하고 EC2 기반 배포로 확장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920240"/>
            <a:ext cx="160020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26280" y="1920240"/>
            <a:ext cx="118872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1920240"/>
            <a:ext cx="11612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1783080" cy="1371600"/>
          </a:xfrm>
          <a:prstGeom prst="roundRect">
            <a:avLst>
              <a:gd name="adj" fmla="val 9333"/>
            </a:avLst>
          </a:prstGeom>
          <a:solidFill>
            <a:srgbClr val="EEF6FF"/>
          </a:solidFill>
          <a:ln w="15240">
            <a:solidFill>
              <a:srgbClr val="125B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399032"/>
            <a:ext cx="493776" cy="493776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49047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6464" y="1417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5BD9"/>
                </a:solidFill>
              </a:rPr>
              <a:t>개발 PC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002536"/>
            <a:ext cx="13807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React 개발 서버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Spring Boot IDE 실행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PostgreSQL/Redis는 Docker로 실행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971800" y="1097280"/>
            <a:ext cx="2057400" cy="164592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15240">
            <a:solidFill>
              <a:srgbClr val="0B2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6392" y="1261872"/>
            <a:ext cx="493776" cy="493776"/>
          </a:xfrm>
          <a:prstGeom prst="ellipse">
            <a:avLst/>
          </a:prstGeom>
          <a:solidFill>
            <a:srgbClr val="0B2A55"/>
          </a:solidFill>
          <a:ln w="12700">
            <a:solidFill>
              <a:srgbClr val="0B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35331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58184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72968" y="1865376"/>
            <a:ext cx="16550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feature → develop PR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버전 관리 및 협업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배포용 소스 기준점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715000" y="896112"/>
            <a:ext cx="2103120" cy="2331720"/>
          </a:xfrm>
          <a:prstGeom prst="roundRect">
            <a:avLst>
              <a:gd name="adj" fmla="val 6957"/>
            </a:avLst>
          </a:prstGeom>
          <a:solidFill>
            <a:srgbClr val="FFF5E7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1078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AWS EC2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1888" y="1389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A55"/>
                </a:solidFill>
              </a:rPr>
              <a:t>Docker Compose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70992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1764792"/>
            <a:ext cx="14264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frontend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Nginx + React dist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989320" y="2048256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103120"/>
            <a:ext cx="14264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backend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Spring Boot API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989320" y="2386584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441448"/>
            <a:ext cx="14264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postgres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PostgreSQL 16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989320" y="2724912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2779776"/>
            <a:ext cx="14264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redis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F28C28"/>
                </a:solidFill>
              </a:rPr>
              <a:t>Redis 7.x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8668512" y="12344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ECFDF3"/>
          </a:solidFill>
          <a:ln w="15240">
            <a:solidFill>
              <a:srgbClr val="087A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33104" y="1399032"/>
            <a:ext cx="493776" cy="493776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3104" y="149047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54896" y="14173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A3D"/>
                </a:solidFill>
              </a:rPr>
              <a:t>사용자 접속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69680" y="2002536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브라우저 → HTTPS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Nginx 정적 파일 제공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/api 요청은 Backend로 프록시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914400" y="42519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125B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480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5BD9"/>
                </a:solidFill>
              </a:rPr>
              <a:t>1단계: 학습·시연 배포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78992" y="47731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EC2 1대 + Docker Compose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Frontend / Backend / PostgreSQL / Redis 통합 실행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709160" y="42519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87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480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A3D"/>
                </a:solidFill>
              </a:rPr>
              <a:t>2단계: 운영 확장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19472" y="4800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RDS PostgreSQL · ElastiCache Redis · S3 파일 저장소로 분리 가능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458200" y="42519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703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4480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30A0"/>
                </a:solidFill>
              </a:rPr>
              <a:t>배포 핵심 포인트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13648" y="47731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환경변수로 DB/JWT/OAuth 분리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Nginx 리버스 프록시 · HTTPS 적용 검토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85800" y="5715000"/>
            <a:ext cx="10881360" cy="393192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843016"/>
            <a:ext cx="10332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0B2A55"/>
                </a:solidFill>
              </a:rPr>
              <a:t>설계 기준: PostgreSQL은 영구 저장소, Redis는 인증·캐시·분산락·AI 처리 상태 보조 저장소로 사용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시나리오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중간발표에서 확인할 핵심 사용자 흐름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087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353312"/>
            <a:ext cx="502920" cy="502920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996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0472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기업 ESG 관리자 로그인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90472" y="18013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COMPANY_MANAGER 계정으로 접속 후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환경 데이터 화면 이동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840480" y="1819656"/>
            <a:ext cx="3017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114300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087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353312"/>
            <a:ext cx="502920" cy="502920"/>
          </a:xfrm>
          <a:prstGeom prst="ellipse">
            <a:avLst/>
          </a:prstGeom>
          <a:solidFill>
            <a:srgbClr val="087A3D"/>
          </a:solidFill>
          <a:ln w="12700">
            <a:solidFill>
              <a:srgbClr val="087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4996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2026년 6월 데이터 조회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8013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사업장별 수집 완료 상태와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ESG 미반영 데이터를 확인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635240" y="1819656"/>
            <a:ext cx="3017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114300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912" y="135331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14996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79992" y="1399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ESG 반영 실행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79992" y="18013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전력 사용량을 기준으로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Scope 2 및 월별 지표 산정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85800" y="301752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" y="322783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3741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90472" y="3273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AI 분석 및 승인 요청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90472" y="36758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누락·이상치를 검토하고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시스템 관리자에게 승인 요청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3840480" y="3694176"/>
            <a:ext cx="3017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80560" y="301752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125B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3227832"/>
            <a:ext cx="502920" cy="502920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3741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3273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시스템 관리자 승인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6758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SYSTEM_ADMIN이 승인 대기 데이터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최종 승인 또는 반려 처리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635240" y="3694176"/>
            <a:ext cx="30175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75320" y="3017520"/>
            <a:ext cx="3154680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15240">
            <a:solidFill>
              <a:srgbClr val="125B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9912" y="3227832"/>
            <a:ext cx="502920" cy="502920"/>
          </a:xfrm>
          <a:prstGeom prst="ellipse">
            <a:avLst/>
          </a:prstGeom>
          <a:solidFill>
            <a:srgbClr val="125BD9"/>
          </a:solidFill>
          <a:ln w="12700">
            <a:solidFill>
              <a:srgbClr val="125B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9912" y="33741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79992" y="3273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55"/>
                </a:solidFill>
              </a:rPr>
              <a:t>대시보드 확정 반영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79992" y="36758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APPROVED 데이터만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공식 대시보드와 보고서에 표시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0" cy="29260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0120" y="5230368"/>
            <a:ext cx="10241280" cy="512064"/>
          </a:xfrm>
          <a:prstGeom prst="roundRect">
            <a:avLst>
              <a:gd name="adj" fmla="val 17857"/>
            </a:avLst>
          </a:prstGeom>
          <a:solidFill>
            <a:srgbClr val="ECFDF3"/>
          </a:solidFill>
          <a:ln w="12700">
            <a:solidFill>
              <a:srgbClr val="B7D8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0432" y="5404104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2A55"/>
                </a:solidFill>
              </a:rPr>
              <a:t>데모 기준: 1~5월은 승인 완료, 6월은 수집 완료·미반영 상태에서 시작해 발표 중 반영 → 승인 → 대시보드 갱신까지 확인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A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8912" y="457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중간발표 이후 실무형 ESG 관리 플랫폼으로 완성도 강화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D3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98448"/>
            <a:ext cx="1993392" cy="288036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98448"/>
            <a:ext cx="199339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데이터 신뢰성 강화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원천 데이터 추적성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검증 사유·처리 이력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승인 후 수정 제한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362456" y="3520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2456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98648" y="1298448"/>
            <a:ext cx="1993392" cy="288036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8648" y="1298448"/>
            <a:ext cx="199339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4630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보고서 산출 고도화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127248" y="2057400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PDF 보고서 디자인 개선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공개용/내부용 템플릿 분리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연도별 실적 비교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666744" y="3520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02936" y="1298448"/>
            <a:ext cx="1993392" cy="288036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2936" y="1298448"/>
            <a:ext cx="199339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14630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AI 분석 보강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431536" y="2057400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증빙 문서 OCR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회의록·위험요인 분석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이상치 탐지 규칙 추가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971032" y="3520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07224" y="1298448"/>
            <a:ext cx="1993392" cy="288036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1298448"/>
            <a:ext cx="199339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14630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운영 안정화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735824" y="2057400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수집 실패 재처리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알림 및 감사 로그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권한별 예외 처리 강화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275320" y="3520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11512" y="1298448"/>
            <a:ext cx="1993392" cy="288036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524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1512" y="1298448"/>
            <a:ext cx="199339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8672" y="14630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배포 테스트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0040112" y="2057400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Docker Compose 통합 실행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AWS EC2 배포 검증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환경변수·보안 설정 분리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10579608" y="3520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79608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" y="4983480"/>
            <a:ext cx="10287000" cy="841248"/>
          </a:xfrm>
          <a:prstGeom prst="roundRect">
            <a:avLst>
              <a:gd name="adj" fmla="val 13043"/>
            </a:avLst>
          </a:prstGeom>
          <a:solidFill>
            <a:srgbClr val="EEF6FF"/>
          </a:solidFill>
          <a:ln w="12700">
            <a:solidFill>
              <a:srgbClr val="B9D3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5230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5"/>
                </a:solidFill>
              </a:rPr>
              <a:t>최종 목표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2286000" y="525780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334155"/>
                </a:solidFill>
              </a:rPr>
              <a:t>화면 구현을 넘어 데이터 신뢰성, 승인 책임, 감사 이력, 클라우드 배포까지 연결되는 ESG 데이터 관리 플랫폼 완성</a:t>
            </a:r>
            <a:endParaRPr lang="en-US" sz="1260" dirty="0"/>
          </a:p>
        </p:txBody>
      </p:sp>
      <p:sp>
        <p:nvSpPr>
          <p:cNvPr id="39" name="Text 37"/>
          <p:cNvSpPr/>
          <p:nvPr/>
        </p:nvSpPr>
        <p:spPr>
          <a:xfrm>
            <a:off x="411480" y="658368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</a:rPr>
              <a:t>Cloud-based ESG Platform · 중간발표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503152" y="656539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A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ESG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기반 ESG 데이터 관리 플랫폼 중간발표</dc:title>
  <dc:subject>클라우드 기반 ESG 데이터 관리 플랫폼 중간발표</dc:subject>
  <dc:creator>OpenAI</dc:creator>
  <cp:lastModifiedBy>OpenAI</cp:lastModifiedBy>
  <cp:revision>1</cp:revision>
  <dcterms:created xsi:type="dcterms:W3CDTF">2026-07-13T08:49:33Z</dcterms:created>
  <dcterms:modified xsi:type="dcterms:W3CDTF">2026-07-13T08:49:33Z</dcterms:modified>
</cp:coreProperties>
</file>